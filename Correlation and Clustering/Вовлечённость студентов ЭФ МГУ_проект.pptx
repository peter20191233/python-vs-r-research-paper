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0" r:id="rId14"/>
    <p:sldId id="266" r:id="rId15"/>
    <p:sldId id="273" r:id="rId16"/>
    <p:sldId id="267" r:id="rId17"/>
    <p:sldId id="268" r:id="rId18"/>
    <p:sldId id="26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30EFC6-872C-420E-9D78-9166BD413A86}" v="1" dt="2026-04-08T15:22:00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14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 Korytov" userId="cd0f164e84266f46" providerId="LiveId" clId="{B760449D-A528-452D-9EEF-EDB4EDA7985E}"/>
    <pc:docChg chg="custSel modSld">
      <pc:chgData name="Petr Korytov" userId="cd0f164e84266f46" providerId="LiveId" clId="{B760449D-A528-452D-9EEF-EDB4EDA7985E}" dt="2026-04-08T15:22:00.373" v="20"/>
      <pc:docMkLst>
        <pc:docMk/>
      </pc:docMkLst>
      <pc:sldChg chg="modSp mod">
        <pc:chgData name="Petr Korytov" userId="cd0f164e84266f46" providerId="LiveId" clId="{B760449D-A528-452D-9EEF-EDB4EDA7985E}" dt="2026-04-08T15:22:00.373" v="20"/>
        <pc:sldMkLst>
          <pc:docMk/>
          <pc:sldMk cId="0" sldId="257"/>
        </pc:sldMkLst>
        <pc:spChg chg="mod">
          <ac:chgData name="Petr Korytov" userId="cd0f164e84266f46" providerId="LiveId" clId="{B760449D-A528-452D-9EEF-EDB4EDA7985E}" dt="2026-04-08T15:22:00.373" v="20"/>
          <ac:spMkLst>
            <pc:docMk/>
            <pc:sldMk cId="0" sldId="257"/>
            <ac:spMk id="2" creationId="{00000000-0000-0000-0000-000000000000}"/>
          </ac:spMkLst>
        </pc:spChg>
      </pc:sldChg>
      <pc:sldChg chg="delSp mod">
        <pc:chgData name="Petr Korytov" userId="cd0f164e84266f46" providerId="LiveId" clId="{B760449D-A528-452D-9EEF-EDB4EDA7985E}" dt="2026-04-08T15:10:20.088" v="0" actId="478"/>
        <pc:sldMkLst>
          <pc:docMk/>
          <pc:sldMk cId="0" sldId="260"/>
        </pc:sldMkLst>
        <pc:spChg chg="del">
          <ac:chgData name="Petr Korytov" userId="cd0f164e84266f46" providerId="LiveId" clId="{B760449D-A528-452D-9EEF-EDB4EDA7985E}" dt="2026-04-08T15:10:20.088" v="0" actId="478"/>
          <ac:spMkLst>
            <pc:docMk/>
            <pc:sldMk cId="0" sldId="260"/>
            <ac:spMk id="15" creationId="{00000000-0000-0000-0000-000000000000}"/>
          </ac:spMkLst>
        </pc:spChg>
      </pc:sldChg>
      <pc:sldChg chg="modSp mod">
        <pc:chgData name="Petr Korytov" userId="cd0f164e84266f46" providerId="LiveId" clId="{B760449D-A528-452D-9EEF-EDB4EDA7985E}" dt="2026-04-08T15:21:02.781" v="10" actId="122"/>
        <pc:sldMkLst>
          <pc:docMk/>
          <pc:sldMk cId="0" sldId="265"/>
        </pc:sldMkLst>
        <pc:spChg chg="mod">
          <ac:chgData name="Petr Korytov" userId="cd0f164e84266f46" providerId="LiveId" clId="{B760449D-A528-452D-9EEF-EDB4EDA7985E}" dt="2026-04-08T15:20:59.909" v="9" actId="122"/>
          <ac:spMkLst>
            <pc:docMk/>
            <pc:sldMk cId="0" sldId="265"/>
            <ac:spMk id="29" creationId="{D7D20D3D-38DA-0D38-37A3-6ED87E6E5AE2}"/>
          </ac:spMkLst>
        </pc:spChg>
        <pc:spChg chg="mod">
          <ac:chgData name="Petr Korytov" userId="cd0f164e84266f46" providerId="LiveId" clId="{B760449D-A528-452D-9EEF-EDB4EDA7985E}" dt="2026-04-08T15:21:02.781" v="10" actId="122"/>
          <ac:spMkLst>
            <pc:docMk/>
            <pc:sldMk cId="0" sldId="265"/>
            <ac:spMk id="30" creationId="{CED48EEA-D96C-C82F-FED2-5A9DE72CC222}"/>
          </ac:spMkLst>
        </pc:spChg>
      </pc:sldChg>
      <pc:sldChg chg="delSp mod">
        <pc:chgData name="Petr Korytov" userId="cd0f164e84266f46" providerId="LiveId" clId="{B760449D-A528-452D-9EEF-EDB4EDA7985E}" dt="2026-04-08T15:16:28.696" v="1" actId="478"/>
        <pc:sldMkLst>
          <pc:docMk/>
          <pc:sldMk cId="0" sldId="267"/>
        </pc:sldMkLst>
        <pc:spChg chg="del">
          <ac:chgData name="Petr Korytov" userId="cd0f164e84266f46" providerId="LiveId" clId="{B760449D-A528-452D-9EEF-EDB4EDA7985E}" dt="2026-04-08T15:16:28.696" v="1" actId="478"/>
          <ac:spMkLst>
            <pc:docMk/>
            <pc:sldMk cId="0" sldId="267"/>
            <ac:spMk id="27" creationId="{00000000-0000-0000-0000-000000000000}"/>
          </ac:spMkLst>
        </pc:spChg>
      </pc:sldChg>
      <pc:sldChg chg="modSp mod">
        <pc:chgData name="Petr Korytov" userId="cd0f164e84266f46" providerId="LiveId" clId="{B760449D-A528-452D-9EEF-EDB4EDA7985E}" dt="2026-04-08T15:16:44.304" v="2" actId="20577"/>
        <pc:sldMkLst>
          <pc:docMk/>
          <pc:sldMk cId="920590311" sldId="270"/>
        </pc:sldMkLst>
        <pc:spChg chg="mod">
          <ac:chgData name="Petr Korytov" userId="cd0f164e84266f46" providerId="LiveId" clId="{B760449D-A528-452D-9EEF-EDB4EDA7985E}" dt="2026-04-08T15:16:44.304" v="2" actId="20577"/>
          <ac:spMkLst>
            <pc:docMk/>
            <pc:sldMk cId="920590311" sldId="270"/>
            <ac:spMk id="23" creationId="{137ECD96-03BF-9DA5-F600-EFD7E52CDD3C}"/>
          </ac:spMkLst>
        </pc:spChg>
      </pc:sldChg>
      <pc:sldChg chg="modSp mod">
        <pc:chgData name="Petr Korytov" userId="cd0f164e84266f46" providerId="LiveId" clId="{B760449D-A528-452D-9EEF-EDB4EDA7985E}" dt="2026-04-08T15:21:18.782" v="14" actId="122"/>
        <pc:sldMkLst>
          <pc:docMk/>
          <pc:sldMk cId="4057646224" sldId="271"/>
        </pc:sldMkLst>
        <pc:spChg chg="mod">
          <ac:chgData name="Petr Korytov" userId="cd0f164e84266f46" providerId="LiveId" clId="{B760449D-A528-452D-9EEF-EDB4EDA7985E}" dt="2026-04-08T15:21:15.659" v="13" actId="122"/>
          <ac:spMkLst>
            <pc:docMk/>
            <pc:sldMk cId="4057646224" sldId="271"/>
            <ac:spMk id="29" creationId="{20778171-9884-37D1-930F-5B5000D5FEB4}"/>
          </ac:spMkLst>
        </pc:spChg>
        <pc:spChg chg="mod">
          <ac:chgData name="Petr Korytov" userId="cd0f164e84266f46" providerId="LiveId" clId="{B760449D-A528-452D-9EEF-EDB4EDA7985E}" dt="2026-04-08T15:21:18.782" v="14" actId="122"/>
          <ac:spMkLst>
            <pc:docMk/>
            <pc:sldMk cId="4057646224" sldId="271"/>
            <ac:spMk id="30" creationId="{CEDF6670-0AF7-5CC3-0E2C-D83199CB60C5}"/>
          </ac:spMkLst>
        </pc:spChg>
      </pc:sldChg>
      <pc:sldChg chg="modSp mod">
        <pc:chgData name="Petr Korytov" userId="cd0f164e84266f46" providerId="LiveId" clId="{B760449D-A528-452D-9EEF-EDB4EDA7985E}" dt="2026-04-08T15:21:12.502" v="12" actId="122"/>
        <pc:sldMkLst>
          <pc:docMk/>
          <pc:sldMk cId="3194095253" sldId="272"/>
        </pc:sldMkLst>
        <pc:spChg chg="mod">
          <ac:chgData name="Petr Korytov" userId="cd0f164e84266f46" providerId="LiveId" clId="{B760449D-A528-452D-9EEF-EDB4EDA7985E}" dt="2026-04-08T15:21:09.016" v="11" actId="122"/>
          <ac:spMkLst>
            <pc:docMk/>
            <pc:sldMk cId="3194095253" sldId="272"/>
            <ac:spMk id="29" creationId="{BA4018C3-C2EF-415B-EFCB-4924F0BFE91E}"/>
          </ac:spMkLst>
        </pc:spChg>
        <pc:spChg chg="mod">
          <ac:chgData name="Petr Korytov" userId="cd0f164e84266f46" providerId="LiveId" clId="{B760449D-A528-452D-9EEF-EDB4EDA7985E}" dt="2026-04-08T15:21:12.502" v="12" actId="122"/>
          <ac:spMkLst>
            <pc:docMk/>
            <pc:sldMk cId="3194095253" sldId="272"/>
            <ac:spMk id="30" creationId="{99B70B43-DC89-95A7-5981-2ACD874A46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08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F126-B451-121B-E580-4F682D73B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20376-D471-FD03-2064-7B392909E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8C3C1-244B-0E41-979B-E03E883B9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DB769-FDC1-4825-A2DC-03BD3A212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71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8B47-B030-910E-D096-1424BC2B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40ABA-6FA5-DA2A-9348-AC87E71A5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04310-5CDC-F8C2-2BE3-B635FCF2F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2D3B5-78D8-9C24-0E83-53EE30E9F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73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FDBDE-F80A-50A0-6B3B-44561F55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C109F-4B31-2EDB-E99C-BDC421861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4FE54-6443-D379-92DF-E0EA8A640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41A61-15E4-ABF7-E776-42237E13D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73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95604-D1C5-6AE6-9B63-CC963528B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465A1-451A-B9BA-CC7B-1FDED4DCF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1F8F5-CC8A-3350-40DD-8941688B8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0EACB-547C-1C62-3089-4FA4C44E27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31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eter20191233/Python-vs-R-research-paper/tree/master/Correlation%20and%20Clusteri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9855184/" TargetMode="External"/><Relationship Id="rId7" Type="http://schemas.openxmlformats.org/officeDocument/2006/relationships/hyperlink" Target="https://www.isras.ru/publ.html?id=12690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hse.ru/news/priority/850278408.html" TargetMode="External"/><Relationship Id="rId5" Type="http://schemas.openxmlformats.org/officeDocument/2006/relationships/hyperlink" Target="https://mephi.ru/content/public/uploads/files/education/docs/FIP1/issledovanie_vovlechennost_i_udovletvorennost_2022.pdf" TargetMode="External"/><Relationship Id="rId4" Type="http://schemas.openxmlformats.org/officeDocument/2006/relationships/hyperlink" Target="https://pmc.ncbi.nlm.nih.gov/articles/PMC5519092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Групповая динамика</a:t>
            </a:r>
            <a:endParaRPr lang="en-US" sz="3800" dirty="0"/>
          </a:p>
          <a:p>
            <a:pPr marL="0" indent="0" algn="l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вовлечённость студентов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8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 МГУ имени М.В. Ломоносова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Проектный спринт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Команда</a:t>
            </a: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600" b="1" dirty="0" err="1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проекта</a:t>
            </a:r>
            <a:endParaRPr lang="ru-RU" sz="3600" b="1" dirty="0">
              <a:solidFill>
                <a:srgbClr val="1B2A4A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r>
              <a:rPr lang="ru-RU" b="1" dirty="0"/>
              <a:t>типология личности </a:t>
            </a:r>
            <a:r>
              <a:rPr lang="en-US" b="1" dirty="0"/>
              <a:t>MBTI</a:t>
            </a:r>
            <a:endParaRPr lang="ru-RU" sz="3600" b="1" dirty="0">
              <a:solidFill>
                <a:srgbClr val="1B2A4A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l">
              <a:buNone/>
            </a:pPr>
            <a:endParaRPr lang="ru-RU" b="1" dirty="0">
              <a:solidFill>
                <a:srgbClr val="1B2A4A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Корытов Пётр</a:t>
            </a:r>
            <a:endParaRPr lang="en-US" sz="1600" dirty="0"/>
          </a:p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</a:t>
            </a:r>
            <a:endParaRPr lang="en-US" sz="1600" dirty="0"/>
          </a:p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ESFP-T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7560" y="128016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3520440" y="14173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Зайонц Елена</a:t>
            </a:r>
            <a:endParaRPr lang="en-US" sz="1600" dirty="0"/>
          </a:p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Зам. руководителя</a:t>
            </a:r>
            <a:endParaRPr lang="en-US" sz="1600" dirty="0"/>
          </a:p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ENFJ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Бойко Михаил</a:t>
            </a:r>
            <a:endParaRPr lang="en-US" sz="1600" dirty="0"/>
          </a:p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</a:t>
            </a:r>
            <a:endParaRPr lang="en-US" sz="1600" dirty="0"/>
          </a:p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ISTJ-A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Иревли Александр</a:t>
            </a:r>
            <a:endParaRPr lang="en-US" sz="1600" dirty="0"/>
          </a:p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Designer</a:t>
            </a:r>
            <a:endParaRPr lang="en-US" sz="1600" dirty="0"/>
          </a:p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ENTJ-A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320040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520440" y="3337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Терентьев Олег</a:t>
            </a:r>
            <a:endParaRPr lang="en-US" sz="1600" dirty="0"/>
          </a:p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Рецензент, редактор</a:t>
            </a:r>
            <a:endParaRPr lang="en-US" sz="1600" dirty="0"/>
          </a:p>
          <a:p>
            <a:pPr marL="0" indent="0" algn="l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ESTJ-A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Тема исследования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Групповая динамика и поведенческие аспекты принятия решений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8046720" cy="2011680"/>
          </a:xfrm>
          <a:prstGeom prst="roundRect">
            <a:avLst>
              <a:gd name="adj" fmla="val 681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Исследовательский вопрос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повысить вовлечённость студентов ЭФ МГУ в учебный процесс?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Предмет анализа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74904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Коммуникация и лидерство</a:t>
            </a:r>
            <a:endParaRPr lang="en-US" sz="1800" dirty="0"/>
          </a:p>
          <a:p>
            <a:pPr marL="0" indent="0" algn="l">
              <a:lnSpc>
                <a:spcPts val="2200"/>
              </a:lnSpc>
              <a:spcAft>
                <a:spcPts val="600"/>
              </a:spcAft>
              <a:buNone/>
            </a:pPr>
            <a:endParaRPr lang="en-US" sz="1800" dirty="0"/>
          </a:p>
          <a:p>
            <a:pPr marL="342900" indent="-342900" algn="l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Взаимодействие студентов и преподавателей</a:t>
            </a:r>
            <a:endParaRPr lang="en-US" sz="1800" dirty="0"/>
          </a:p>
          <a:p>
            <a:pPr marL="0" indent="0" algn="l">
              <a:lnSpc>
                <a:spcPts val="2200"/>
              </a:lnSpc>
              <a:spcAft>
                <a:spcPts val="600"/>
              </a:spcAft>
              <a:buNone/>
            </a:pPr>
            <a:endParaRPr lang="en-US" sz="1800" dirty="0"/>
          </a:p>
          <a:p>
            <a:pPr marL="342900" indent="-342900" algn="l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на групповую работу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46320" y="1280160"/>
            <a:ext cx="374904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0" y="155448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Когнитивные искажения</a:t>
            </a:r>
            <a:endParaRPr lang="en-US" sz="1800" dirty="0"/>
          </a:p>
          <a:p>
            <a:pPr marL="0" indent="0" algn="l">
              <a:lnSpc>
                <a:spcPts val="2200"/>
              </a:lnSpc>
              <a:spcAft>
                <a:spcPts val="600"/>
              </a:spcAft>
              <a:buNone/>
            </a:pPr>
            <a:endParaRPr lang="en-US" sz="1800" dirty="0"/>
          </a:p>
          <a:p>
            <a:pPr marL="342900" indent="-342900" algn="l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Социальное давление</a:t>
            </a:r>
            <a:endParaRPr lang="en-US" sz="1800" dirty="0"/>
          </a:p>
          <a:p>
            <a:pPr marL="0" indent="0" algn="l">
              <a:lnSpc>
                <a:spcPts val="2200"/>
              </a:lnSpc>
              <a:spcAft>
                <a:spcPts val="600"/>
              </a:spcAft>
              <a:buNone/>
            </a:pPr>
            <a:endParaRPr lang="en-US" sz="1800" dirty="0"/>
          </a:p>
          <a:p>
            <a:pPr marL="342900" indent="-342900" algn="l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на принятие решений</a:t>
            </a:r>
            <a:endParaRPr lang="en-US" sz="1800" dirty="0"/>
          </a:p>
          <a:p>
            <a:pPr marL="0" indent="0" algn="l">
              <a:lnSpc>
                <a:spcPts val="2200"/>
              </a:lnSpc>
              <a:spcAft>
                <a:spcPts val="600"/>
              </a:spcAft>
              <a:buNone/>
            </a:pPr>
            <a:endParaRPr lang="en-US" sz="1800" dirty="0"/>
          </a:p>
          <a:p>
            <a:pPr marL="342900" indent="-342900" algn="l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в академической среде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Объект исследования: ЭФ МГУ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74904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~2 500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бакалавров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74904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120640" y="1280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12064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магистров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4904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468880"/>
            <a:ext cx="374904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120640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12064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преподавателей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703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Учёный совет  →  Деканат (А.А. Аузан)  →  Лаборатории, Студсовет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Гипотезы исследования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80467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00200" y="178308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групповая сплочённость </a:t>
            </a:r>
            <a:r>
              <a:rPr lang="en-US" sz="1400" dirty="0" err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повышает</a:t>
            </a: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успеваемость</a:t>
            </a: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20–30%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66060"/>
            <a:ext cx="80467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777240" y="2903220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77240" y="29032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285750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Студенческие организации усиливают </a:t>
            </a:r>
            <a:r>
              <a:rPr lang="en-US" sz="1400" dirty="0" err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поведенческую</a:t>
            </a: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вовлечённость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успеваемость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53196"/>
            <a:ext cx="80467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777240" y="3890356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77240" y="389035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r>
              <a:rPr lang="ru-RU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844636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проекты увеличивают мотивацию на всех уровнях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Методы исследования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74904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Количественные</a:t>
            </a:r>
            <a:endParaRPr lang="en-US" sz="1800" dirty="0"/>
          </a:p>
          <a:p>
            <a:pPr marL="0" indent="0" algn="l">
              <a:spcAft>
                <a:spcPts val="800"/>
              </a:spcAft>
              <a:buNone/>
            </a:pPr>
            <a:endParaRPr lang="en-US" sz="1800" dirty="0"/>
          </a:p>
          <a:p>
            <a:pPr marL="342900" indent="-342900" algn="l">
              <a:spcBef>
                <a:spcPts val="500"/>
              </a:spcBef>
              <a:spcAft>
                <a:spcPts val="2000"/>
              </a:spcAft>
              <a:buSzPct val="100000"/>
              <a:buChar char="•"/>
            </a:pP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Корреляционный </a:t>
            </a:r>
            <a:r>
              <a:rPr lang="en-US" sz="1400" dirty="0" err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sz="1800" dirty="0"/>
          </a:p>
          <a:p>
            <a:pPr marL="342900" indent="-342900" algn="l">
              <a:spcBef>
                <a:spcPts val="500"/>
              </a:spcBef>
              <a:spcAft>
                <a:spcPts val="2000"/>
              </a:spcAft>
              <a:buSzPct val="100000"/>
              <a:buChar char="•"/>
            </a:pP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на сравнение групп</a:t>
            </a:r>
            <a:endParaRPr lang="en-US" sz="1800" dirty="0"/>
          </a:p>
          <a:p>
            <a:pPr marL="342900" indent="-342900" algn="l">
              <a:spcBef>
                <a:spcPts val="500"/>
              </a:spcBef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Кластерный анализ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46320" y="1188720"/>
            <a:ext cx="374904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0" y="146304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Качественные</a:t>
            </a:r>
            <a:endParaRPr lang="en-US" sz="1800" dirty="0"/>
          </a:p>
          <a:p>
            <a:pPr marL="0" indent="0" algn="l">
              <a:spcAft>
                <a:spcPts val="800"/>
              </a:spcAft>
              <a:buNone/>
            </a:pP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Глубинные интервью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Фокус-группы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 за учебным процессом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кейсов других ВУЗов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и обработка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вопросов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188720"/>
            <a:ext cx="24688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11880" y="1280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r>
              <a:rPr lang="ru-RU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11880" y="1874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валидных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респондента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24688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492240" y="1280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уровней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шкалы Лайкерта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Процесс обработки данных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85800" y="34015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Сбор данных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3611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651760" y="32918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788920" y="34015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Очистка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88920" y="39319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9 столбцов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строк с 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3611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32918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892040" y="34015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Перекоди-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рование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9319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Числовые значения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58000" y="32918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995160" y="34015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Анализ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39319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pandas,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scipy, seaborn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Корреляционный анализ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32816" y="87834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основании обработанных данных была построена тепловая карта корреляций: 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3125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— Corr_Clustering.py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4DFF3F-7925-BEB6-455A-BAB94609DA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954" t="4562" r="29374" b="3001"/>
          <a:stretch>
            <a:fillRect/>
          </a:stretch>
        </p:blipFill>
        <p:spPr>
          <a:xfrm>
            <a:off x="532816" y="1425547"/>
            <a:ext cx="3050772" cy="3027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D48C6C-24FA-B945-89AE-68DCCAF623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919" b="-1"/>
          <a:stretch>
            <a:fillRect/>
          </a:stretch>
        </p:blipFill>
        <p:spPr>
          <a:xfrm>
            <a:off x="4223721" y="1438343"/>
            <a:ext cx="4554519" cy="694099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8F146861-0D88-5FD8-5FD0-7287560696A2}"/>
              </a:ext>
            </a:extLst>
          </p:cNvPr>
          <p:cNvSpPr/>
          <p:nvPr/>
        </p:nvSpPr>
        <p:spPr>
          <a:xfrm rot="20949865">
            <a:off x="3359228" y="1765485"/>
            <a:ext cx="1034868" cy="1944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5D101B22-6468-6C02-B3A1-10E8EFA9BA05}"/>
              </a:ext>
            </a:extLst>
          </p:cNvPr>
          <p:cNvSpPr/>
          <p:nvPr/>
        </p:nvSpPr>
        <p:spPr>
          <a:xfrm>
            <a:off x="3601942" y="2287045"/>
            <a:ext cx="5542058" cy="269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05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успеваемости слабо связаны с ответами на вопросы (наибольший среди коэффициентов </a:t>
            </a:r>
            <a:r>
              <a:rPr lang="it-IT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-0,42)</a:t>
            </a:r>
            <a:endParaRPr lang="ru-RU" sz="1050" dirty="0">
              <a:solidFill>
                <a:srgbClr val="7A797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Далее в работе с помощью дополнительных тестов проверяется связь успеваемости и следующих </a:t>
            </a:r>
            <a:r>
              <a:rPr lang="it-IT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ru-RU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вопросов (выбраны вопросы с наибольшей корреляцией с успеваемостью)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7A7974"/>
                </a:solidFill>
                <a:latin typeface="Calibri" pitchFamily="34" charset="0"/>
                <a:cs typeface="Calibri" pitchFamily="34" charset="-120"/>
              </a:rPr>
              <a:t>Вопрос 1 - В моей академической группе сложилась атмосфера, в которой мне комфортно высказывать своё мнение.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7A7974"/>
                </a:solidFill>
                <a:latin typeface="Calibri" pitchFamily="34" charset="0"/>
                <a:cs typeface="Calibri" pitchFamily="34" charset="-120"/>
              </a:rPr>
              <a:t>Вопрос 2 - У меня есть круг общения на факультете, с которым я готовлюсь к контрольным и другим важным работам на регулярной основе.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7A7974"/>
                </a:solidFill>
                <a:latin typeface="Calibri" pitchFamily="34" charset="0"/>
                <a:cs typeface="Calibri" pitchFamily="34" charset="-120"/>
              </a:rPr>
              <a:t>Вопрос 19 - Я чувствую, что обучение на факультете развивает мои профессиональные навыки.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7A7974"/>
                </a:solidFill>
                <a:latin typeface="Calibri" pitchFamily="34" charset="0"/>
                <a:cs typeface="Calibri" pitchFamily="34" charset="-120"/>
              </a:rPr>
              <a:t>Вопрос 22 - </a:t>
            </a:r>
            <a:r>
              <a:rPr lang="en-IT" sz="1050" dirty="0">
                <a:solidFill>
                  <a:srgbClr val="7A7974"/>
                </a:solidFill>
                <a:latin typeface="Calibri" pitchFamily="34" charset="0"/>
                <a:cs typeface="Calibri" pitchFamily="34" charset="-120"/>
              </a:rPr>
              <a:t>Я вижу связь между изучаемыми дисциплинами и моей будущей профессией.​</a:t>
            </a:r>
            <a:endParaRPr lang="ru-RU" sz="1050" dirty="0">
              <a:solidFill>
                <a:srgbClr val="7A7974"/>
              </a:solidFill>
              <a:latin typeface="Calibri" pitchFamily="34" charset="0"/>
              <a:cs typeface="Calibri" pitchFamily="34" charset="-120"/>
            </a:endParaRP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7A7974"/>
                </a:solidFill>
                <a:latin typeface="Calibri" pitchFamily="34" charset="0"/>
                <a:cs typeface="Calibri" pitchFamily="34" charset="-120"/>
              </a:rPr>
              <a:t>Вопрос 33 - Благодаря внеучебным активностям я зав(</a:t>
            </a:r>
            <a:r>
              <a:rPr lang="ru-RU" sz="1050" dirty="0" err="1">
                <a:solidFill>
                  <a:srgbClr val="7A7974"/>
                </a:solidFill>
                <a:latin typeface="Calibri" pitchFamily="34" charset="0"/>
                <a:cs typeface="Calibri" pitchFamily="34" charset="-120"/>
              </a:rPr>
              <a:t>ёл</a:t>
            </a:r>
            <a:r>
              <a:rPr lang="ru-RU" sz="1050" dirty="0">
                <a:solidFill>
                  <a:srgbClr val="7A7974"/>
                </a:solidFill>
                <a:latin typeface="Calibri" pitchFamily="34" charset="0"/>
                <a:cs typeface="Calibri" pitchFamily="34" charset="-120"/>
              </a:rPr>
              <a:t>/ела) полезные академические или профессиональные знакомства.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7A7974"/>
                </a:solidFill>
                <a:latin typeface="Calibri" pitchFamily="34" charset="0"/>
                <a:cs typeface="Calibri" pitchFamily="34" charset="-120"/>
              </a:rPr>
              <a:t>Вопрос 43 -   Большинство студентов в моём кругу общения имеет отличную академическую успеваемость.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3600" b="1" dirty="0">
                <a:solidFill>
                  <a:srgbClr val="1B2A4A"/>
                </a:solidFill>
                <a:latin typeface="Trebuchet MS" pitchFamily="34" charset="0"/>
              </a:rPr>
              <a:t>Анализ ответов на вопросы </a:t>
            </a:r>
            <a:r>
              <a:rPr lang="it-IT" sz="3600" b="1" dirty="0">
                <a:solidFill>
                  <a:srgbClr val="1B2A4A"/>
                </a:solidFill>
                <a:latin typeface="Trebuchet MS" pitchFamily="34" charset="0"/>
              </a:rPr>
              <a:t>(1/3)</a:t>
            </a:r>
            <a:endParaRPr lang="en-US" sz="3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2264C79-E3E2-791E-21F4-4477F22176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7"/>
          <a:stretch>
            <a:fillRect/>
          </a:stretch>
        </p:blipFill>
        <p:spPr>
          <a:xfrm>
            <a:off x="4687037" y="914400"/>
            <a:ext cx="4093169" cy="2857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6BEDAF8-4FD7-C620-EB2B-CA5BE908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102"/>
          <a:stretch>
            <a:fillRect/>
          </a:stretch>
        </p:blipFill>
        <p:spPr>
          <a:xfrm>
            <a:off x="500955" y="911594"/>
            <a:ext cx="3956009" cy="286311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046D0A8-0003-14A6-2B34-B419F77CBF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145" t="26124" b="28307"/>
          <a:stretch>
            <a:fillRect/>
          </a:stretch>
        </p:blipFill>
        <p:spPr>
          <a:xfrm>
            <a:off x="3147797" y="3960555"/>
            <a:ext cx="3078480" cy="1057746"/>
          </a:xfrm>
          <a:prstGeom prst="rect">
            <a:avLst/>
          </a:prstGeom>
        </p:spPr>
      </p:pic>
      <p:sp>
        <p:nvSpPr>
          <p:cNvPr id="29" name="Shape 20">
            <a:extLst>
              <a:ext uri="{FF2B5EF4-FFF2-40B4-BE49-F238E27FC236}">
                <a16:creationId xmlns:a16="http://schemas.microsoft.com/office/drawing/2014/main" id="{D7D20D3D-38DA-0D38-37A3-6ED87E6E5AE2}"/>
              </a:ext>
            </a:extLst>
          </p:cNvPr>
          <p:cNvSpPr/>
          <p:nvPr/>
        </p:nvSpPr>
        <p:spPr>
          <a:xfrm>
            <a:off x="489152" y="3960555"/>
            <a:ext cx="2537707" cy="377313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  <p:txBody>
          <a:bodyPr/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Наблюдается связь</a:t>
            </a: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CED48EEA-D96C-C82F-FED2-5A9DE72CC222}"/>
              </a:ext>
            </a:extLst>
          </p:cNvPr>
          <p:cNvSpPr/>
          <p:nvPr/>
        </p:nvSpPr>
        <p:spPr>
          <a:xfrm>
            <a:off x="6312546" y="3966797"/>
            <a:ext cx="2537707" cy="377313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  <p:txBody>
          <a:bodyPr/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Не наблюдается связь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F8E1E-06CD-9897-629F-E8844C4C4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33D2AD-1202-8577-1B10-F4FE9C09B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356" y="914400"/>
            <a:ext cx="3620237" cy="2892618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5BBD9CA-B96D-311F-4463-CD94A9B7AA22}"/>
              </a:ext>
            </a:extLst>
          </p:cNvPr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3600" b="1" dirty="0">
                <a:solidFill>
                  <a:srgbClr val="1B2A4A"/>
                </a:solidFill>
                <a:latin typeface="Trebuchet MS" pitchFamily="34" charset="0"/>
              </a:rPr>
              <a:t>Анализ ответов на вопросы </a:t>
            </a:r>
            <a:r>
              <a:rPr lang="it-IT" sz="3600" b="1" dirty="0">
                <a:solidFill>
                  <a:srgbClr val="1B2A4A"/>
                </a:solidFill>
                <a:latin typeface="Trebuchet MS" pitchFamily="34" charset="0"/>
              </a:rPr>
              <a:t>(2/3)</a:t>
            </a:r>
            <a:endParaRPr lang="en-US" sz="36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E500B1B-6252-67FC-45E4-056F768E2E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145" t="26124" b="28307"/>
          <a:stretch>
            <a:fillRect/>
          </a:stretch>
        </p:blipFill>
        <p:spPr>
          <a:xfrm>
            <a:off x="3147797" y="3960555"/>
            <a:ext cx="3078480" cy="1057746"/>
          </a:xfrm>
          <a:prstGeom prst="rect">
            <a:avLst/>
          </a:prstGeom>
        </p:spPr>
      </p:pic>
      <p:sp>
        <p:nvSpPr>
          <p:cNvPr id="29" name="Shape 20">
            <a:extLst>
              <a:ext uri="{FF2B5EF4-FFF2-40B4-BE49-F238E27FC236}">
                <a16:creationId xmlns:a16="http://schemas.microsoft.com/office/drawing/2014/main" id="{20778171-9884-37D1-930F-5B5000D5FEB4}"/>
              </a:ext>
            </a:extLst>
          </p:cNvPr>
          <p:cNvSpPr/>
          <p:nvPr/>
        </p:nvSpPr>
        <p:spPr>
          <a:xfrm>
            <a:off x="337084" y="3916983"/>
            <a:ext cx="2537707" cy="377313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  <p:txBody>
          <a:bodyPr/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Не наблюдается связь</a:t>
            </a: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CEDF6670-0AF7-5CC3-0E2C-D83199CB60C5}"/>
              </a:ext>
            </a:extLst>
          </p:cNvPr>
          <p:cNvSpPr/>
          <p:nvPr/>
        </p:nvSpPr>
        <p:spPr>
          <a:xfrm>
            <a:off x="6269209" y="3923576"/>
            <a:ext cx="2537707" cy="377313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  <p:txBody>
          <a:bodyPr/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Не наблюдается связь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B5571-1AD1-A3AE-D038-61405EB36A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8862"/>
          <a:stretch>
            <a:fillRect/>
          </a:stretch>
        </p:blipFill>
        <p:spPr>
          <a:xfrm>
            <a:off x="500955" y="944887"/>
            <a:ext cx="3974690" cy="282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46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982CB-E6DA-5195-E719-7E0E9237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E3BDD7-5094-E1F4-2549-EE7978BF9390}"/>
              </a:ext>
            </a:extLst>
          </p:cNvPr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3600" b="1" dirty="0">
                <a:solidFill>
                  <a:srgbClr val="1B2A4A"/>
                </a:solidFill>
                <a:latin typeface="Trebuchet MS" pitchFamily="34" charset="0"/>
              </a:rPr>
              <a:t>Анализ ответов на вопросы </a:t>
            </a:r>
            <a:r>
              <a:rPr lang="it-IT" sz="3600" b="1" dirty="0">
                <a:solidFill>
                  <a:srgbClr val="1B2A4A"/>
                </a:solidFill>
                <a:latin typeface="Trebuchet MS" pitchFamily="34" charset="0"/>
              </a:rPr>
              <a:t>(3/3)</a:t>
            </a:r>
            <a:endParaRPr lang="en-US" sz="36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D4279A-28A8-4D21-21DC-2135D8A7A4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45" t="26124" b="28307"/>
          <a:stretch>
            <a:fillRect/>
          </a:stretch>
        </p:blipFill>
        <p:spPr>
          <a:xfrm>
            <a:off x="3147797" y="3960555"/>
            <a:ext cx="3078480" cy="1057746"/>
          </a:xfrm>
          <a:prstGeom prst="rect">
            <a:avLst/>
          </a:prstGeom>
        </p:spPr>
      </p:pic>
      <p:sp>
        <p:nvSpPr>
          <p:cNvPr id="29" name="Shape 20">
            <a:extLst>
              <a:ext uri="{FF2B5EF4-FFF2-40B4-BE49-F238E27FC236}">
                <a16:creationId xmlns:a16="http://schemas.microsoft.com/office/drawing/2014/main" id="{BA4018C3-C2EF-415B-EFCB-4924F0BFE91E}"/>
              </a:ext>
            </a:extLst>
          </p:cNvPr>
          <p:cNvSpPr/>
          <p:nvPr/>
        </p:nvSpPr>
        <p:spPr>
          <a:xfrm>
            <a:off x="489152" y="3949179"/>
            <a:ext cx="2537707" cy="377313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  <p:txBody>
          <a:bodyPr/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Наблюдается связь</a:t>
            </a: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99B70B43-DC89-95A7-5981-2ACD874A4677}"/>
              </a:ext>
            </a:extLst>
          </p:cNvPr>
          <p:cNvSpPr/>
          <p:nvPr/>
        </p:nvSpPr>
        <p:spPr>
          <a:xfrm>
            <a:off x="6347215" y="3960556"/>
            <a:ext cx="2537707" cy="377313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  <p:txBody>
          <a:bodyPr/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Не наблюдается связь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E0EB8F-267E-C364-9A25-503CDC7EFC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2182" b="-172"/>
          <a:stretch>
            <a:fillRect/>
          </a:stretch>
        </p:blipFill>
        <p:spPr>
          <a:xfrm>
            <a:off x="500955" y="914400"/>
            <a:ext cx="3641554" cy="27726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2B2C8F-3520-3364-D49B-97D30CC822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" r="42916" b="-1583"/>
          <a:stretch>
            <a:fillRect/>
          </a:stretch>
        </p:blipFill>
        <p:spPr>
          <a:xfrm>
            <a:off x="4484348" y="956801"/>
            <a:ext cx="3769173" cy="277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95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08550-D9D6-0C87-6DF6-9B6F1328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C9F437-0BA6-C0BD-AF4D-950258BE81A3}"/>
              </a:ext>
            </a:extLst>
          </p:cNvPr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Хи-квадрат тесты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F851C6-B6B6-4B3B-6462-4CFE2E55EF53}"/>
              </a:ext>
            </a:extLst>
          </p:cNvPr>
          <p:cNvSpPr/>
          <p:nvPr/>
        </p:nvSpPr>
        <p:spPr>
          <a:xfrm>
            <a:off x="548640" y="78638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ответов по группам. </a:t>
            </a:r>
            <a:r>
              <a:rPr lang="it-IT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it-IT" sz="1600" baseline="-25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it-IT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различий между группами, </a:t>
            </a:r>
            <a:r>
              <a:rPr lang="it-IT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it-IT" sz="1600" baseline="-25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it-IT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различия 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4565EDD-FBE7-1C59-1062-24D61DC9892D}"/>
              </a:ext>
            </a:extLst>
          </p:cNvPr>
          <p:cNvSpPr/>
          <p:nvPr/>
        </p:nvSpPr>
        <p:spPr>
          <a:xfrm>
            <a:off x="548640" y="1225296"/>
            <a:ext cx="80467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2DC992-CE95-8A0B-E558-66B77C378E1B}"/>
              </a:ext>
            </a:extLst>
          </p:cNvPr>
          <p:cNvSpPr/>
          <p:nvPr/>
        </p:nvSpPr>
        <p:spPr>
          <a:xfrm>
            <a:off x="593872" y="12252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Вопрос</a:t>
            </a: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1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C9260C6-B3FE-C614-0865-59C84B9F91CF}"/>
              </a:ext>
            </a:extLst>
          </p:cNvPr>
          <p:cNvSpPr/>
          <p:nvPr/>
        </p:nvSpPr>
        <p:spPr>
          <a:xfrm>
            <a:off x="1632155" y="1225296"/>
            <a:ext cx="678032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Атмосфера в группе.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&gt; 5% 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нет статистически значимых различий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2E8DC97-3B19-D6AA-D950-6D050BF677E4}"/>
              </a:ext>
            </a:extLst>
          </p:cNvPr>
          <p:cNvSpPr/>
          <p:nvPr/>
        </p:nvSpPr>
        <p:spPr>
          <a:xfrm>
            <a:off x="548640" y="1700784"/>
            <a:ext cx="8046720" cy="475488"/>
          </a:xfrm>
          <a:prstGeom prst="rect">
            <a:avLst/>
          </a:prstGeom>
          <a:solidFill>
            <a:srgbClr val="ED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E53E112-4E15-10E7-6583-B99B682CD6FC}"/>
              </a:ext>
            </a:extLst>
          </p:cNvPr>
          <p:cNvSpPr/>
          <p:nvPr/>
        </p:nvSpPr>
        <p:spPr>
          <a:xfrm>
            <a:off x="593872" y="170078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Вопрос</a:t>
            </a: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ru-RU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6A6893-6779-E4C1-5721-BCAF71686FBF}"/>
              </a:ext>
            </a:extLst>
          </p:cNvPr>
          <p:cNvSpPr/>
          <p:nvPr/>
        </p:nvSpPr>
        <p:spPr>
          <a:xfrm>
            <a:off x="1632155" y="1700784"/>
            <a:ext cx="678032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Совместная подготовка.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&gt; 5% 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нет статистически значимых различий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E2A5691-F71A-DD63-0099-5C49CD80909D}"/>
              </a:ext>
            </a:extLst>
          </p:cNvPr>
          <p:cNvSpPr/>
          <p:nvPr/>
        </p:nvSpPr>
        <p:spPr>
          <a:xfrm>
            <a:off x="548640" y="2176272"/>
            <a:ext cx="80467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ABA6384-CA67-90A3-A333-1DF4D37318EA}"/>
              </a:ext>
            </a:extLst>
          </p:cNvPr>
          <p:cNvSpPr/>
          <p:nvPr/>
        </p:nvSpPr>
        <p:spPr>
          <a:xfrm>
            <a:off x="593872" y="21762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Вопрос 19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20C80AA-C796-BDB0-96F5-179052924EA9}"/>
              </a:ext>
            </a:extLst>
          </p:cNvPr>
          <p:cNvSpPr/>
          <p:nvPr/>
        </p:nvSpPr>
        <p:spPr>
          <a:xfrm>
            <a:off x="1632155" y="2176272"/>
            <a:ext cx="696320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Профессиональные навыки.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&gt; 5% 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нет статистически значимых различий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AA0AFF2-5400-6082-C530-F8DBDD802AE7}"/>
              </a:ext>
            </a:extLst>
          </p:cNvPr>
          <p:cNvSpPr/>
          <p:nvPr/>
        </p:nvSpPr>
        <p:spPr>
          <a:xfrm>
            <a:off x="548640" y="2651760"/>
            <a:ext cx="8046720" cy="475488"/>
          </a:xfrm>
          <a:prstGeom prst="rect">
            <a:avLst/>
          </a:prstGeom>
          <a:solidFill>
            <a:srgbClr val="ED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6004879-A0A5-D811-C09F-0DF76021B42A}"/>
              </a:ext>
            </a:extLst>
          </p:cNvPr>
          <p:cNvSpPr/>
          <p:nvPr/>
        </p:nvSpPr>
        <p:spPr>
          <a:xfrm>
            <a:off x="593872" y="265176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Вопрос 22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1527C40-0B09-7B77-2E97-52117750619C}"/>
              </a:ext>
            </a:extLst>
          </p:cNvPr>
          <p:cNvSpPr/>
          <p:nvPr/>
        </p:nvSpPr>
        <p:spPr>
          <a:xfrm>
            <a:off x="548640" y="3127248"/>
            <a:ext cx="80467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504EF66-BCF1-55E2-3B0F-18EB87CADB49}"/>
              </a:ext>
            </a:extLst>
          </p:cNvPr>
          <p:cNvSpPr/>
          <p:nvPr/>
        </p:nvSpPr>
        <p:spPr>
          <a:xfrm>
            <a:off x="593872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Вопрос</a:t>
            </a: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3</a:t>
            </a:r>
            <a:r>
              <a:rPr lang="ru-RU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24B7D35-AACA-B393-1E7A-67AB5DEBA7F7}"/>
              </a:ext>
            </a:extLst>
          </p:cNvPr>
          <p:cNvSpPr/>
          <p:nvPr/>
        </p:nvSpPr>
        <p:spPr>
          <a:xfrm>
            <a:off x="548640" y="3602736"/>
            <a:ext cx="8046720" cy="475488"/>
          </a:xfrm>
          <a:prstGeom prst="rect">
            <a:avLst/>
          </a:prstGeom>
          <a:solidFill>
            <a:srgbClr val="ED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6EB8D9D-D1F6-5ADE-58C1-42DC096FCF97}"/>
              </a:ext>
            </a:extLst>
          </p:cNvPr>
          <p:cNvSpPr/>
          <p:nvPr/>
        </p:nvSpPr>
        <p:spPr>
          <a:xfrm>
            <a:off x="593872" y="360273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Вопрос</a:t>
            </a: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ru-RU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B42F9D4-84C4-2022-6C59-AB81AE86A7C6}"/>
              </a:ext>
            </a:extLst>
          </p:cNvPr>
          <p:cNvSpPr/>
          <p:nvPr/>
        </p:nvSpPr>
        <p:spPr>
          <a:xfrm>
            <a:off x="548640" y="44348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37ECD96-03BF-9DA5-F600-EFD7E52CDD3C}"/>
              </a:ext>
            </a:extLst>
          </p:cNvPr>
          <p:cNvSpPr/>
          <p:nvPr/>
        </p:nvSpPr>
        <p:spPr>
          <a:xfrm>
            <a:off x="822960" y="44348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Статистически</a:t>
            </a:r>
            <a:r>
              <a:rPr lang="ru-RU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 тесты не подтверждают наличие различий между группами, несмотря на то что визуально различия присутствуют</a:t>
            </a:r>
            <a:endParaRPr lang="en-US" sz="12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0A06BBD8-3A07-D2E2-B61F-8202C7AA8561}"/>
              </a:ext>
            </a:extLst>
          </p:cNvPr>
          <p:cNvSpPr/>
          <p:nvPr/>
        </p:nvSpPr>
        <p:spPr>
          <a:xfrm>
            <a:off x="1632154" y="2651760"/>
            <a:ext cx="696320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Учеба и профессия.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&gt; 5% 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нет статистически значимых различий</a:t>
            </a:r>
            <a:endParaRPr lang="en-US" sz="14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BF932AA3-1F0B-0D1E-6890-86E73C5CD31E}"/>
              </a:ext>
            </a:extLst>
          </p:cNvPr>
          <p:cNvSpPr/>
          <p:nvPr/>
        </p:nvSpPr>
        <p:spPr>
          <a:xfrm>
            <a:off x="1632154" y="3127248"/>
            <a:ext cx="696320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Внеучебные активности.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&gt; 5% 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нет статистически значимых различий</a:t>
            </a:r>
            <a:endParaRPr lang="en-US" sz="14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DF9439D5-D0B3-5F95-080B-BEAA5424C9DC}"/>
              </a:ext>
            </a:extLst>
          </p:cNvPr>
          <p:cNvSpPr/>
          <p:nvPr/>
        </p:nvSpPr>
        <p:spPr>
          <a:xfrm>
            <a:off x="1632153" y="3602736"/>
            <a:ext cx="696320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Профессиональные навыки.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&gt; 5% </a:t>
            </a:r>
            <a:r>
              <a:rPr lang="it-IT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 </a:t>
            </a:r>
            <a:r>
              <a:rPr lang="ru-RU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нет статистически значимых различий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0590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Кластерный анализ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3749040" cy="18516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22960" y="1531620"/>
            <a:ext cx="3200400" cy="1668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 err="1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Иерархическая кластеризация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 — Манхэттенское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— Ward.D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46320" y="1531620"/>
            <a:ext cx="3749040" cy="18516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0" y="1531620"/>
            <a:ext cx="3200400" cy="1051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 err="1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Дендрограмма </a:t>
            </a:r>
            <a:r>
              <a:rPr lang="en-US" sz="1400" dirty="0" err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выявила</a:t>
            </a: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профиля студентов по уровню вовлечённости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вовлечённые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361188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2A3F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2651760" y="36118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Умеренно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вовлечённые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31412" y="361188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3D527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426283" y="3626121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Пассивные</a:t>
            </a:r>
            <a:endParaRPr lang="en-US" sz="14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5BE0E443-9B5E-ED18-2FBD-602FD72A3DB0}"/>
              </a:ext>
            </a:extLst>
          </p:cNvPr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 проведен кластерный анализ для исследования поведения студентов по подгруппам по 6 выбранным вопросам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491EA1-39E5-423E-E77B-4D58AA934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12" t="18708" r="5598" b="33150"/>
          <a:stretch>
            <a:fillRect/>
          </a:stretch>
        </p:blipFill>
        <p:spPr>
          <a:xfrm>
            <a:off x="5712543" y="2395055"/>
            <a:ext cx="2082718" cy="9469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73D99-3DC4-9598-9D25-A897EFD4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49ADB6-7E42-1808-56A6-D36875FFE046}"/>
              </a:ext>
            </a:extLst>
          </p:cNvPr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Кластерный анализ</a:t>
            </a:r>
            <a:endParaRPr lang="en-US" sz="36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564E9D24-C9CD-0D76-99A4-080FF7D922B1}"/>
              </a:ext>
            </a:extLst>
          </p:cNvPr>
          <p:cNvSpPr/>
          <p:nvPr/>
        </p:nvSpPr>
        <p:spPr>
          <a:xfrm>
            <a:off x="548640" y="868680"/>
            <a:ext cx="8046720" cy="472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600" dirty="0">
                <a:solidFill>
                  <a:srgbClr val="7A7974"/>
                </a:solidFill>
                <a:latin typeface="Calibri" pitchFamily="34" charset="0"/>
                <a:cs typeface="Calibri" pitchFamily="34" charset="-120"/>
              </a:rPr>
              <a:t>Результаты кластерного анализа представлены в виде столбчатой диаграммы (столбцы – среднее по кластеру)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A97781-D038-F565-DFF2-50AA2E2636B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1" y="1341612"/>
            <a:ext cx="5203230" cy="3410110"/>
          </a:xfrm>
          <a:prstGeom prst="rect">
            <a:avLst/>
          </a:prstGeom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68371431-9CD9-2002-EAAE-D4B623F5B1FD}"/>
              </a:ext>
            </a:extLst>
          </p:cNvPr>
          <p:cNvSpPr/>
          <p:nvPr/>
        </p:nvSpPr>
        <p:spPr>
          <a:xfrm>
            <a:off x="5613815" y="1821305"/>
            <a:ext cx="3275351" cy="2453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ru-RU" sz="1050" dirty="0"/>
              <a:t>Кластер 1: Пассивные – много ответов «где-то посередине»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ru-RU" sz="1050" dirty="0"/>
              <a:t>Кластер 2: Умеренно активные 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ru-RU" sz="1050" dirty="0"/>
              <a:t>Кластер 3: Активно вовлеченные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521351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Обзор источников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Boyatzis, Goleman, McKee (2002)</a:t>
            </a: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коллективный ЭИ и эффективность команд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solidFill>
            <a:srgbClr val="ED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Edmondson (1999)</a:t>
            </a: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психологическая безопасность в группах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Grant (2013)</a:t>
            </a: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просоциальное поведение и академические результаты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solidFill>
            <a:srgbClr val="ED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2860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u="sng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Xue &amp; Li (2023)</a:t>
            </a: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мета-анализ факторов вовлечённости (93 188 участников)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7432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u="sng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Crowe et al. (2017)</a:t>
            </a: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восприятие групповой динамики и индивидуальные результаты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solidFill>
            <a:srgbClr val="ED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004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u="sng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МИФИ (2022)</a:t>
            </a: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исследование вовлечённости студентов в российском вузе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u="sng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ВШЭ (2023)</a:t>
            </a: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модели образовательного поведения студентов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D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u="sng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Нарбут и др.</a:t>
            </a: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вовлечённость студентов МГУ в научную работу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Ключевые выводы и рекомендации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74904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Выводы</a:t>
            </a:r>
            <a:endParaRPr lang="en-US" sz="1800" dirty="0"/>
          </a:p>
          <a:p>
            <a:pPr marL="0" indent="0" algn="l">
              <a:spcAft>
                <a:spcPts val="800"/>
              </a:spcAft>
              <a:buNone/>
            </a:pP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ru-RU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Наиболее активные студенты обладают более высокой успеваемостью </a:t>
            </a: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Внеучебная</a:t>
            </a: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активность формирует полезные академические и профессиональные связи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Кластерный </a:t>
            </a:r>
            <a:r>
              <a:rPr lang="en-US" sz="1300" dirty="0" err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выявил</a:t>
            </a:r>
            <a:r>
              <a:rPr lang="ru-RU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профиля студентов с различным уровнем вовлечённости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46320" y="1097280"/>
            <a:ext cx="374904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0" y="132588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Рекомендации</a:t>
            </a:r>
            <a:endParaRPr lang="en-US" sz="1800" dirty="0"/>
          </a:p>
          <a:p>
            <a:pPr marL="0" indent="0" algn="l">
              <a:spcAft>
                <a:spcPts val="800"/>
              </a:spcAft>
              <a:buNone/>
            </a:pP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Усилить практику групповых проектов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Развивать программы менторства между студентами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Интегрировать внеучебные активности в учебный план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систему раннего выявления низко вовлечённых студентов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Спасибо за внимание!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ответить на ваши вопросы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838</Words>
  <Application>Microsoft Office PowerPoint</Application>
  <PresentationFormat>Экран (16:9)</PresentationFormat>
  <Paragraphs>194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Petr Korytov</dc:creator>
  <cp:lastModifiedBy>Petr Korytov</cp:lastModifiedBy>
  <cp:revision>3</cp:revision>
  <dcterms:created xsi:type="dcterms:W3CDTF">2026-04-07T17:06:17Z</dcterms:created>
  <dcterms:modified xsi:type="dcterms:W3CDTF">2026-04-08T15:25:37Z</dcterms:modified>
</cp:coreProperties>
</file>