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7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05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FE21-3F92-EB53-E91A-305070EB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86626-F1A3-B461-5088-A066AB7AE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BE7B3-C039-5865-D18B-26D53C64D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4A187-11E6-830C-70E3-00716DF8B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49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o.hse.ru/article/view/1767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stina.msu.ru/publications/article/71748593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stina.msu.ru/publications/article/546634879/" TargetMode="External"/><Relationship Id="rId5" Type="http://schemas.openxmlformats.org/officeDocument/2006/relationships/hyperlink" Target="https://istina.msu.ru/workers/26110237/" TargetMode="External"/><Relationship Id="rId4" Type="http://schemas.openxmlformats.org/officeDocument/2006/relationships/hyperlink" Target="https://istina.msu.ru/publications/article/752476846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0274"/>
            <a:ext cx="79248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Групповая динамика и вовлеченность студентов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23311" y="2726035"/>
            <a:ext cx="34973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 МГУ имени М.В.Ломоносова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49040" y="3503216"/>
            <a:ext cx="204582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спринт •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0"/>
            <a:ext cx="2540000" cy="1074142"/>
          </a:xfrm>
          <a:prstGeom prst="roundRect">
            <a:avLst>
              <a:gd name="adj" fmla="val 102154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2000" y="1249660"/>
            <a:ext cx="2540000" cy="1074142"/>
          </a:xfrm>
          <a:prstGeom prst="roundRect">
            <a:avLst>
              <a:gd name="adj" fmla="val 102154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400" y="1249660"/>
            <a:ext cx="2540000" cy="1074142"/>
          </a:xfrm>
          <a:prstGeom prst="roundRect">
            <a:avLst>
              <a:gd name="adj" fmla="val 102154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47379" y="2476202"/>
            <a:ext cx="2448421" cy="1074142"/>
          </a:xfrm>
          <a:prstGeom prst="roundRect">
            <a:avLst>
              <a:gd name="adj" fmla="val 102154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8200" y="2476202"/>
            <a:ext cx="2448421" cy="1074142"/>
          </a:xfrm>
          <a:prstGeom prst="roundRect">
            <a:avLst>
              <a:gd name="adj" fmla="val 102154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352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проекта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9648" y="1402060"/>
            <a:ext cx="22799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Корытов Петр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9648" y="1752501"/>
            <a:ext cx="22799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9648" y="1990031"/>
            <a:ext cx="227990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ESFP-T — Артист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432048" y="1402060"/>
            <a:ext cx="22799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Зайонц Елена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32048" y="1752501"/>
            <a:ext cx="22799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Зам. руководителя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432048" y="1990031"/>
            <a:ext cx="227990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 — Тренер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124448" y="1402060"/>
            <a:ext cx="22799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Бойко Михаил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4448" y="1752501"/>
            <a:ext cx="22799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124448" y="1990031"/>
            <a:ext cx="227990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ISTJ-A — Логист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178343" y="2628602"/>
            <a:ext cx="21864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Иревли Александр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78343" y="2979043"/>
            <a:ext cx="218649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Designer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178343" y="3216573"/>
            <a:ext cx="218649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ENTJ-A — Командир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779164" y="2628602"/>
            <a:ext cx="21864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Терентьев Олег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79164" y="2979043"/>
            <a:ext cx="218649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Рецензент, редактор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779164" y="3216573"/>
            <a:ext cx="218649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6B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ESTJ-A — Менеджер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61"/>
            <a:ext cx="7924800" cy="2011561"/>
          </a:xfrm>
          <a:prstGeom prst="roundRect">
            <a:avLst>
              <a:gd name="adj" fmla="val 72732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исследования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630661"/>
            <a:ext cx="7315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Групповая динамика и поведенческие аспекты принятия решений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423022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 индивидуальном, групповом и организационном уровнях повысить вовлечённость студентов ЭФ МГУ в учебный процесс?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61"/>
            <a:ext cx="3886200" cy="1010245"/>
          </a:xfrm>
          <a:prstGeom prst="roundRect">
            <a:avLst>
              <a:gd name="adj" fmla="val 14482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325861"/>
            <a:ext cx="3886200" cy="1010245"/>
          </a:xfrm>
          <a:prstGeom prst="roundRect">
            <a:avLst>
              <a:gd name="adj" fmla="val 14482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88506"/>
            <a:ext cx="3886200" cy="1010245"/>
          </a:xfrm>
          <a:prstGeom prst="roundRect">
            <a:avLst>
              <a:gd name="adj" fmla="val 14482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200" y="2488506"/>
            <a:ext cx="3886200" cy="1010245"/>
          </a:xfrm>
          <a:prstGeom prst="roundRect">
            <a:avLst>
              <a:gd name="adj" fmla="val 14482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анализа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61"/>
            <a:ext cx="34975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904901"/>
            <a:ext cx="349758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студентов и преподавателей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876800" y="1554461"/>
            <a:ext cx="34975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Лидерство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76800" y="1904901"/>
            <a:ext cx="349758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групповую работу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2717106"/>
            <a:ext cx="34975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Когнитивные искажения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3067546"/>
            <a:ext cx="349758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принятие решений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876800" y="2717106"/>
            <a:ext cx="34975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Социальное давление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76800" y="3067546"/>
            <a:ext cx="349758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в академической среде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1102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12541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43983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исследования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2460" y="1432522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1:</a:t>
            </a: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Теоретический анализ литературы по групповой динамике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2460" y="2163961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2:</a:t>
            </a: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Сбор первичных данных: опросы и интервью студентов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2460" y="2895402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3:</a:t>
            </a: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Анализ вторичных данных и статистики факультета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60" y="3626844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4:</a:t>
            </a: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Тестирование гипотез и разработка рекомендаций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417141"/>
          </a:xfrm>
          <a:prstGeom prst="roundRect">
            <a:avLst>
              <a:gd name="adj" fmla="val 103239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66802"/>
            <a:ext cx="7924800" cy="1417141"/>
          </a:xfrm>
          <a:prstGeom prst="roundRect">
            <a:avLst>
              <a:gd name="adj" fmla="val 103239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исследования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Количественные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1"/>
            <a:ext cx="74676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Опросы студентов (300+ респондентов), статистический анализ, корреляция и регрессия, измерение поведенческих, эмоциональных и когнитивных аспектов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89540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367783"/>
            <a:ext cx="74676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Глубинные интервью, фокус-группы для изучения динамики, наблюдение за учебным процессом, анализ кейсов других университетов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782862"/>
          </a:xfrm>
          <a:prstGeom prst="roundRect">
            <a:avLst>
              <a:gd name="adj" fmla="val 82061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32522"/>
            <a:ext cx="7924800" cy="1782862"/>
          </a:xfrm>
          <a:prstGeom prst="roundRect">
            <a:avLst>
              <a:gd name="adj" fmla="val 82061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исследования: ЭФ МГУ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1"/>
            <a:ext cx="7467600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~2500 бакалавров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~700 магистров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кафедры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преподавателей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6112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733502"/>
            <a:ext cx="7467600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Ученый совет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Деканат (А.А. Аузан)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Лаборатории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Студсовет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569541"/>
          </a:xfrm>
          <a:prstGeom prst="roundRect">
            <a:avLst>
              <a:gd name="adj" fmla="val 93215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19205"/>
            <a:ext cx="7924800" cy="1569541"/>
          </a:xfrm>
          <a:prstGeom prst="roundRect">
            <a:avLst>
              <a:gd name="adj" fmla="val 93215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текущей ситуации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стороны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4"/>
            <a:ext cx="74676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Профессионалы-преподаватели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Активная студенческая жизнь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возможности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04780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20185"/>
            <a:ext cx="74676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групповой работы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нагрузка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Вариативная вовлеченность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1102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12541"/>
            <a:ext cx="7924800" cy="792361"/>
          </a:xfrm>
          <a:prstGeom prst="roundRect">
            <a:avLst>
              <a:gd name="adj" fmla="val 138482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657302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исследования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2460" y="1432522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групповая сплоченность повышает вовлеченность на 20-30%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2460" y="2163961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Студенческие организации усиливают поведенческую вовлеченность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2460" y="2895405"/>
            <a:ext cx="755908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Индивидуальные факторы (лидерство) минимизируют конфликты и повышают когнитивную вовлеченность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60" y="3840166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Групповые проекты увеличивают мотивацию на всех уровнях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1102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12541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43985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2460" y="1432522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контактов сотрудников ЭФ МГУ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2460" y="2163961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соглашений на интервью и встречи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2460" y="2895405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Составление полного описания компании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60" y="3626844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Погружение в предмет исследования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1102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12541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источников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92460" y="1432522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Философский анализ группового принятия решений (Ляхович-Петракова, 2021)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60" y="2163961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Исследования вовлеченности в образовании (ВШЭ, Яндекс Практикум)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2460" y="2895405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7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Эмпирические данные по групповой динамике в ВУЗах (Китайское исследование, 2025)</a:t>
            </a:r>
            <a:endParaRPr lang="en-US" sz="12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7250D3E-C691-09ED-08AD-ECC2254194FB}"/>
              </a:ext>
            </a:extLst>
          </p:cNvPr>
          <p:cNvSpPr/>
          <p:nvPr/>
        </p:nvSpPr>
        <p:spPr>
          <a:xfrm>
            <a:off x="577921" y="3474446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Роль структуры социальных связей в достижении академических успехов</a:t>
            </a:r>
            <a:r>
              <a:rPr lang="en-US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</a:t>
            </a:r>
            <a:r>
              <a:rPr lang="en-US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Ксения Черенкова</a:t>
            </a:r>
            <a:r>
              <a:rPr lang="en-US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Мирзоян Ашот</a:t>
            </a:r>
            <a:r>
              <a:rPr lang="en-US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200" dirty="0">
              <a:solidFill>
                <a:srgbClr val="4A7C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1B3A1-8999-8DEC-7426-25546E06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6B7E96-CE8E-C31E-66E5-2F8B2CBDA9C3}"/>
              </a:ext>
            </a:extLst>
          </p:cNvPr>
          <p:cNvSpPr/>
          <p:nvPr/>
        </p:nvSpPr>
        <p:spPr>
          <a:xfrm>
            <a:off x="609600" y="1249663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32AE32-C24B-6F2A-49DE-22F917C7BBA4}"/>
              </a:ext>
            </a:extLst>
          </p:cNvPr>
          <p:cNvSpPr/>
          <p:nvPr/>
        </p:nvSpPr>
        <p:spPr>
          <a:xfrm>
            <a:off x="609600" y="1981102"/>
            <a:ext cx="6996545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r>
              <a:rPr lang="ru-RU" sz="1000" dirty="0">
                <a:solidFill>
                  <a:srgbClr val="4A7C2B"/>
                </a:solidFill>
                <a:hlinkClick r:id="rId3"/>
              </a:rPr>
              <a:t>Связь «мягких» навыков с образовательными результатами в высших учебных заведениях </a:t>
            </a:r>
            <a:br>
              <a:rPr lang="en-US" sz="1000" dirty="0">
                <a:solidFill>
                  <a:srgbClr val="4A7C2B"/>
                </a:solidFill>
                <a:hlinkClick r:id="rId3"/>
              </a:rPr>
            </a:br>
            <a:r>
              <a:rPr lang="ru-RU" sz="1000" dirty="0">
                <a:solidFill>
                  <a:srgbClr val="4A7C2B"/>
                </a:solidFill>
                <a:hlinkClick r:id="rId3"/>
              </a:rPr>
              <a:t>на примере студентов бакалавриата направления «Менеджмент»</a:t>
            </a:r>
            <a:r>
              <a:rPr lang="en-US" sz="1000" dirty="0">
                <a:solidFill>
                  <a:srgbClr val="4A7C2B"/>
                </a:solidFill>
              </a:rPr>
              <a:t> (</a:t>
            </a:r>
            <a:r>
              <a:rPr lang="ru-RU" sz="1000" dirty="0">
                <a:solidFill>
                  <a:srgbClr val="4A7C2B"/>
                </a:solidFill>
              </a:rPr>
              <a:t>Мирзоян А.Г., Суслова И.П., Говорова А.В.)</a:t>
            </a:r>
          </a:p>
          <a:p>
            <a:pPr marL="0" indent="0">
              <a:buNone/>
            </a:pPr>
            <a:endParaRPr lang="en-US" sz="1000" dirty="0">
              <a:solidFill>
                <a:srgbClr val="4A7C2B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32384C-2780-D390-B553-B0E242886106}"/>
              </a:ext>
            </a:extLst>
          </p:cNvPr>
          <p:cNvSpPr/>
          <p:nvPr/>
        </p:nvSpPr>
        <p:spPr>
          <a:xfrm>
            <a:off x="609600" y="2712541"/>
            <a:ext cx="7924800" cy="579041"/>
          </a:xfrm>
          <a:prstGeom prst="roundRect">
            <a:avLst>
              <a:gd name="adj" fmla="val 189500"/>
            </a:avLst>
          </a:prstGeom>
          <a:solidFill>
            <a:srgbClr val="E8E3D5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5D0959-4EB6-57C0-C76A-2E081D2A710D}"/>
              </a:ext>
            </a:extLst>
          </p:cNvPr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источников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CBEB57-8264-B12B-16A7-F67AFBD39319}"/>
              </a:ext>
            </a:extLst>
          </p:cNvPr>
          <p:cNvSpPr/>
          <p:nvPr/>
        </p:nvSpPr>
        <p:spPr>
          <a:xfrm>
            <a:off x="792460" y="1432522"/>
            <a:ext cx="8083296" cy="36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/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Ошибки студентов при прогнозировании учебных результатов </a:t>
            </a:r>
            <a:r>
              <a:rPr lang="ru-RU" sz="1200" b="1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Синякова Е.А., </a:t>
            </a:r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tooltip="Мирзоян Ашот Гамлетович (перейти на страницу сотрудника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Мирзоян А.Г.</a:t>
            </a:r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fontAlgn="base"/>
            <a:r>
              <a:rPr lang="ru-RU" sz="1200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fontAlgn="base"/>
            <a:br>
              <a:rPr lang="ru-RU" sz="1200" i="1" dirty="0">
                <a:solidFill>
                  <a:srgbClr val="4A7C2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200" dirty="0">
              <a:solidFill>
                <a:srgbClr val="4A7C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BCB0B3-CB48-347D-C21D-4C649D1646B8}"/>
              </a:ext>
            </a:extLst>
          </p:cNvPr>
          <p:cNvSpPr/>
          <p:nvPr/>
        </p:nvSpPr>
        <p:spPr>
          <a:xfrm>
            <a:off x="792460" y="2163961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2B77D6-2D23-C1A5-BAC9-3FD71738A862}"/>
              </a:ext>
            </a:extLst>
          </p:cNvPr>
          <p:cNvSpPr/>
          <p:nvPr/>
        </p:nvSpPr>
        <p:spPr>
          <a:xfrm>
            <a:off x="792460" y="2895405"/>
            <a:ext cx="7710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/>
            <a:r>
              <a:rPr lang="ru-RU" sz="1200" dirty="0">
                <a:solidFill>
                  <a:srgbClr val="4A7C2B"/>
                </a:solidFill>
                <a:hlinkClick r:id="rId6"/>
              </a:rPr>
              <a:t>Анализ защит выпускных квалификационных работ на экономическом факультете МГУ имени М.В. Ломоносова</a:t>
            </a:r>
            <a:br>
              <a:rPr lang="ru-RU" sz="1200" dirty="0">
                <a:solidFill>
                  <a:srgbClr val="4A7C2B"/>
                </a:solidFill>
              </a:rPr>
            </a:br>
            <a:r>
              <a:rPr lang="ru-RU" sz="1200" dirty="0">
                <a:solidFill>
                  <a:srgbClr val="4A7C2B"/>
                </a:solidFill>
              </a:rPr>
              <a:t>(Мирзоян А.Г., Щукина П.О.)</a:t>
            </a:r>
          </a:p>
        </p:txBody>
      </p:sp>
    </p:spTree>
    <p:extLst>
      <p:ext uri="{BB962C8B-B14F-4D97-AF65-F5344CB8AC3E}">
        <p14:creationId xmlns:p14="http://schemas.microsoft.com/office/powerpoint/2010/main" val="3914049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3426" y="2049763"/>
            <a:ext cx="517714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A9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59443" y="2960294"/>
            <a:ext cx="328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ru-RU" sz="1500" dirty="0">
                <a:solidFill>
                  <a:srgbClr val="4A7C2B"/>
                </a:solidFill>
                <a:latin typeface="Arial" pitchFamily="34" charset="0"/>
                <a:cs typeface="Arial" pitchFamily="34" charset="-120"/>
              </a:rPr>
              <a:t>Готовы ответить на ваши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448</Words>
  <Application>Microsoft Office PowerPoint</Application>
  <PresentationFormat>Экран (16:9)</PresentationFormat>
  <Paragraphs>97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Petr Korytov</cp:lastModifiedBy>
  <cp:revision>2</cp:revision>
  <dcterms:created xsi:type="dcterms:W3CDTF">2026-02-26T03:40:58Z</dcterms:created>
  <dcterms:modified xsi:type="dcterms:W3CDTF">2026-02-26T11:04:14Z</dcterms:modified>
</cp:coreProperties>
</file>